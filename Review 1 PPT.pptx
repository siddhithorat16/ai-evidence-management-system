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9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685800"/>
            <a:ext cx="2011680" cy="384048"/>
          </a:xfrm>
          <a:prstGeom prst="roundRect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PROJECT SYNOPSIS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789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F3769"/>
                </a:solidFill>
                <a:latin typeface="Aptos Display"/>
              </a:defRPr>
            </a:pPr>
            <a:r>
              <a:t>AI-Powered Digital Evidence</a:t>
            </a:r>
            <a:br/>
            <a:r>
              <a:t>Management and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306324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9737D"/>
                </a:solidFill>
              </a:defRPr>
            </a:pPr>
            <a:r>
              <a:t>Problem Statement • Motivation • Objectives • Literature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069080"/>
            <a:ext cx="3337560" cy="132588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26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700" b="1">
                <a:solidFill>
                  <a:srgbClr val="2675B5"/>
                </a:solidFill>
              </a:defRPr>
            </a:pPr>
            <a:r>
              <a:t>Core Idea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Convert unstructured digital evidence into structured, searchable and meaningful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4069080"/>
            <a:ext cx="3337560" cy="132588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700" b="1">
                <a:solidFill>
                  <a:srgbClr val="5D3FAA"/>
                </a:solidFill>
              </a:defRPr>
            </a:pPr>
            <a:r>
              <a:t>AI Focus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Automate extraction, correlation, anomaly detection and evidence summarization.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47304" y="4069080"/>
            <a:ext cx="3337560" cy="1325880"/>
          </a:xfrm>
          <a:prstGeom prst="roundRect">
            <a:avLst/>
          </a:prstGeom>
          <a:solidFill>
            <a:srgbClr val="E7F7ED"/>
          </a:solidFill>
          <a:ln w="19050">
            <a:solidFill>
              <a:srgbClr val="23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700" b="1">
                <a:solidFill>
                  <a:srgbClr val="238250"/>
                </a:solidFill>
              </a:defRPr>
            </a:pPr>
            <a:r>
              <a:t>Security Focus</a:t>
            </a:r>
          </a:p>
          <a:p>
            <a:pPr>
              <a:spcAft>
                <a:spcPts val="500"/>
              </a:spcAft>
              <a:defRPr sz="1300">
                <a:solidFill>
                  <a:srgbClr val="232D37"/>
                </a:solidFill>
              </a:defRPr>
            </a:pPr>
            <a:r>
              <a:t>Preserve confidentiality, integrity and controlled access to digital evidence.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3769"/>
                </a:solidFill>
                <a:latin typeface="Aptos Display"/>
              </a:defRPr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Why an AI-assisted digital evidence system is needed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3429000" cy="452628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26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2675B5"/>
                </a:solidFill>
              </a:defRPr>
            </a:pPr>
            <a:r>
              <a:t>Current Challenges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Digital evidence is generated in large volumes and many formats.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Evidence is often scattered across files, logs, emails, chats and media.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Manual examination is time-consuming and difficult to scale.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Finding relationships, timelines and suspicious patterns can be complex.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Evidence must be handled without compromising integrity or confidentiality.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25880"/>
            <a:ext cx="3429000" cy="452628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5D3FAA"/>
                </a:solidFill>
              </a:defRPr>
            </a:pPr>
            <a:r>
              <a:t>Problem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Existing forensic workflows can require significant manual effort for collection, organization, examination and reporting.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Investigators need a centralized workflow that helps process heterogeneous evidence and surface relevant information efficiently.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1325880"/>
            <a:ext cx="3429000" cy="4526280"/>
          </a:xfrm>
          <a:prstGeom prst="roundRect">
            <a:avLst/>
          </a:prstGeom>
          <a:solidFill>
            <a:srgbClr val="E7F7ED"/>
          </a:solidFill>
          <a:ln w="19050">
            <a:solidFill>
              <a:srgbClr val="23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900" b="1">
                <a:solidFill>
                  <a:srgbClr val="238250"/>
                </a:solidFill>
              </a:defRPr>
            </a:pPr>
            <a:r>
              <a:t>Proposed Direction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Build a secure platform that combines evidence ingestion, storage, processing, AI/ML-based analysis, search and report generation.</a:t>
            </a:r>
          </a:p>
          <a:p>
            <a:pPr>
              <a:spcAft>
                <a:spcPts val="500"/>
              </a:spcAft>
              <a:defRPr sz="1400">
                <a:solidFill>
                  <a:srgbClr val="232D37"/>
                </a:solidFill>
              </a:defRPr>
            </a:pPr>
            <a:r>
              <a:t>The system should assist investigators while keeping evidence traceable and protected.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3769"/>
                </a:solidFill>
                <a:latin typeface="Aptos Display"/>
              </a:defRPr>
            </a:pPr>
            <a:r>
              <a:t>2.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The reasons behind developing the proposed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246120" cy="182880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26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675B5"/>
                </a:solidFill>
              </a:defRPr>
            </a:pPr>
            <a:r>
              <a:t>Growing Digital Evidence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Modern investigations involve large and diverse digital artifacts.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1371600"/>
            <a:ext cx="3246120" cy="18288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5D3FAA"/>
                </a:solidFill>
              </a:defRPr>
            </a:pPr>
            <a:r>
              <a:t>Reduce Manual Effort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Automate repetitive extraction, organization and initial analysis tasks.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371600"/>
            <a:ext cx="3246120" cy="1828800"/>
          </a:xfrm>
          <a:prstGeom prst="roundRect">
            <a:avLst/>
          </a:prstGeom>
          <a:solidFill>
            <a:srgbClr val="E7F7ED"/>
          </a:solidFill>
          <a:ln w="19050">
            <a:solidFill>
              <a:srgbClr val="23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38250"/>
                </a:solidFill>
              </a:defRPr>
            </a:pPr>
            <a:r>
              <a:t>Faster Investigation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Help investigators locate relevant evidence and patterns more quickly.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657600"/>
            <a:ext cx="3246120" cy="182880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26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675B5"/>
                </a:solidFill>
              </a:defRPr>
            </a:pPr>
            <a:r>
              <a:t>Better Correlation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Connect information from multiple evidence sources to reveal relationships and timelines.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3657600"/>
            <a:ext cx="3246120" cy="18288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5D3FAA"/>
                </a:solidFill>
              </a:defRPr>
            </a:pPr>
            <a:r>
              <a:t>Secure Evidence Handling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Support controlled access and protection of evidence throughout the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3657600"/>
            <a:ext cx="3246120" cy="1828800"/>
          </a:xfrm>
          <a:prstGeom prst="roundRect">
            <a:avLst/>
          </a:prstGeom>
          <a:solidFill>
            <a:srgbClr val="E7F7ED"/>
          </a:solidFill>
          <a:ln w="19050">
            <a:solidFill>
              <a:srgbClr val="23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600" b="1">
                <a:solidFill>
                  <a:srgbClr val="238250"/>
                </a:solidFill>
              </a:defRPr>
            </a:pPr>
            <a:r>
              <a:t>Clear Reporting</a:t>
            </a:r>
          </a:p>
          <a:p>
            <a:pPr>
              <a:spcAft>
                <a:spcPts val="500"/>
              </a:spcAft>
              <a:defRPr sz="1200">
                <a:solidFill>
                  <a:srgbClr val="232D37"/>
                </a:solidFill>
              </a:defRPr>
            </a:pPr>
            <a:r>
              <a:t>Convert analysis results into structured summaries and investigation-ready reports.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3769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What the proposed system aims to achieve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50876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07592" y="1325880"/>
            <a:ext cx="2971800" cy="182880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0F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0F3769"/>
                </a:solidFill>
              </a:defRPr>
            </a:pPr>
            <a:r>
              <a:t>Secure Evidence Upload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Allow authorized users to upload and manage digital evidence.</a:t>
            </a:r>
          </a:p>
        </p:txBody>
      </p:sp>
      <p:sp>
        <p:nvSpPr>
          <p:cNvPr id="6" name="Oval 5"/>
          <p:cNvSpPr/>
          <p:nvPr/>
        </p:nvSpPr>
        <p:spPr>
          <a:xfrm>
            <a:off x="4389120" y="150876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02352" y="1325880"/>
            <a:ext cx="2971800" cy="18288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5D3FAA"/>
                </a:solidFill>
              </a:defRPr>
            </a:pPr>
            <a:r>
              <a:t>Centralized Storage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Maintain organized evidence and processed information in a secure repository.</a:t>
            </a:r>
          </a:p>
        </p:txBody>
      </p:sp>
      <p:sp>
        <p:nvSpPr>
          <p:cNvPr id="8" name="Oval 7"/>
          <p:cNvSpPr/>
          <p:nvPr/>
        </p:nvSpPr>
        <p:spPr>
          <a:xfrm>
            <a:off x="8183880" y="150876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97112" y="1325880"/>
            <a:ext cx="2971800" cy="182880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0F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0F3769"/>
                </a:solidFill>
              </a:defRPr>
            </a:pPr>
            <a:r>
              <a:t>Automated Processing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Extract, clean and organize useful information from heterogeneous evidence.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84048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07592" y="3657600"/>
            <a:ext cx="2971800" cy="18288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5D3FAA"/>
                </a:solidFill>
              </a:defRPr>
            </a:pPr>
            <a:r>
              <a:t>AI/ML Analysis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Identify patterns, anomalies, relationships and potentially relevant findings.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384048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3657600"/>
            <a:ext cx="2971800" cy="1828800"/>
          </a:xfrm>
          <a:prstGeom prst="roundRect">
            <a:avLst/>
          </a:prstGeom>
          <a:solidFill>
            <a:srgbClr val="E0F2FA"/>
          </a:solidFill>
          <a:ln w="19050">
            <a:solidFill>
              <a:srgbClr val="0F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0F3769"/>
                </a:solidFill>
              </a:defRPr>
            </a:pPr>
            <a:r>
              <a:t>Smart Search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Enable users to quickly locate relevant evidence and investigation information.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183880" y="3840480"/>
            <a:ext cx="566928" cy="56692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7112" y="3657600"/>
            <a:ext cx="2971800" cy="18288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5D3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46304" rtlCol="0" anchor="t"/>
          <a:lstStyle/>
          <a:p>
            <a:pPr algn="ctr">
              <a:spcAft>
                <a:spcPts val="800"/>
              </a:spcAft>
              <a:defRPr sz="1500" b="1">
                <a:solidFill>
                  <a:srgbClr val="5D3FAA"/>
                </a:solidFill>
              </a:defRPr>
            </a:pPr>
            <a:r>
              <a:t>Report Generation</a:t>
            </a:r>
          </a:p>
          <a:p>
            <a:pPr>
              <a:spcAft>
                <a:spcPts val="500"/>
              </a:spcAft>
              <a:defRPr sz="1150">
                <a:solidFill>
                  <a:srgbClr val="232D37"/>
                </a:solidFill>
              </a:defRPr>
            </a:pPr>
            <a:r>
              <a:t>Produce structured summaries, findings and downloadable reports.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3769"/>
                </a:solidFill>
                <a:latin typeface="Aptos Display"/>
              </a:defRPr>
            </a:pPr>
            <a:r>
              <a:t>4.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Key findings from digital forensics, AI/ML and evidence-handling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2743200" cy="502920"/>
          </a:xfrm>
          <a:prstGeom prst="rect">
            <a:avLst/>
          </a:prstGeom>
          <a:solidFill>
            <a:srgbClr val="0F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Study /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143000"/>
            <a:ext cx="4069080" cy="502920"/>
          </a:xfrm>
          <a:prstGeom prst="rect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Main Contribution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143000"/>
            <a:ext cx="4572000" cy="502920"/>
          </a:xfrm>
          <a:prstGeom prst="rect">
            <a:avLst/>
          </a:prstGeom>
          <a:solidFill>
            <a:srgbClr val="2382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Relevance / Limitation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NIST SP 800-86 (2006)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45920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Provides guidance for computer/network forensic activities and identifies data sources such as files, operating systems, network traffic and applications.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Supports the evidence collection and forensic workflow; does not provide an AI-driven centralized analysis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NIJ – Forensic Examination of Digital Evidence (2004)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395728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Emphasizes evidence integrity, documentation, preservation, examination and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395728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Highlights the need for secure evidence handling and traceability in the proposed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45536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Nayerifard et al. (2023)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145536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Systematic review shows increasing use of ML in digital forensics; image forensics and CNN-based methods receive strong attention.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3145536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Demonstrates the value of ML for automated evidence analysis; broader integration across evidence types remains a challenge.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95344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Solanke &amp; Biasiotti (2022)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3895344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Discusses AI-assisted digital evidence mining and the need for evaluation, standardization, optimization and explainability.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895344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Shows that AI can uncover patterns but reliability, transparency and admissibility must be considered.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645152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FSI: Digital Investigation (2024)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4645152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Reviews the role of AI/ML in modern digital forensics and incident response and notes the field is still developing.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4645152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Supports AI-assisted investigation while indicating the need for robust, practical implementations.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94960"/>
            <a:ext cx="27432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50" b="1">
                <a:solidFill>
                  <a:srgbClr val="232D37"/>
                </a:solidFill>
                <a:latin typeface="Aptos"/>
              </a:defRPr>
            </a:pPr>
            <a:r>
              <a:t>FSI: Digital Investigation (2026)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5394960"/>
            <a:ext cx="4069080" cy="749808"/>
          </a:xfrm>
          <a:prstGeom prst="rect">
            <a:avLst/>
          </a:prstGeom>
          <a:solidFill>
            <a:srgbClr val="F8F9FC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Reviews emerging LLM capabilities in digital forensics and notes opportunities alongside reliability and deterministic-forensics challenges.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5394960"/>
            <a:ext cx="457200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Ins="73152" rtlCol="0" anchor="ctr"/>
          <a:lstStyle/>
          <a:p>
            <a:pPr algn="ctr">
              <a:defRPr sz="919">
                <a:solidFill>
                  <a:srgbClr val="232D37"/>
                </a:solidFill>
                <a:latin typeface="Aptos"/>
              </a:defRPr>
            </a:pPr>
            <a:r>
              <a:t>Motivates controlled AI assistance, validation and human oversight rather than fully autonomous conclusions.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6245352"/>
            <a:ext cx="10835640" cy="347472"/>
          </a:xfrm>
          <a:prstGeom prst="roundRect">
            <a:avLst/>
          </a:prstGeom>
          <a:solidFill>
            <a:srgbClr val="E7F7ED"/>
          </a:solidFill>
          <a:ln>
            <a:solidFill>
              <a:srgbClr val="2382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8250"/>
                </a:solidFill>
              </a:defRPr>
            </a:pPr>
            <a:r>
              <a:t>Research Gap: Need for an integrated, secure and user-friendly workflow that combines evidence management with AI-assisted analysis and structured reporting.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F3769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  <a:latin typeface="Aptos"/>
              </a:defRPr>
            </a:pPr>
            <a:r>
              <a:t>Selected sources used for the literature review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27101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23444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Kent, K., Chevalier, S., Grance, T., &amp; Dang, H. (2006). NIST SP 800-86: Guide to Integrating Forensic Techniques into Incident Response.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04825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01168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National Institute of Justice. (2004). Forensic Examination of Digital Evidence: A Guide for Law Enforcement.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82549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8892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Nayerifard, T., Amintoosi, H., Bafghi, A. G., &amp; Dehghantanha, A. (2023). Machine Learning in Digital Forensics: A Systematic Literature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60273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6616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Solanke, A. A., &amp; Biasiotti, M. A. (2022). Digital Forensics AI: Evaluating, Standardizing and Optimizing Digital Evidence Mining Techniques.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7997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4340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A comprehensive analysis of the role of artificial intelligence and machine learning in modern digital forensics and incident response. Forensic Science International: Digital Investigation, 48 (2024).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157216"/>
            <a:ext cx="384048" cy="384048"/>
          </a:xfrm>
          <a:prstGeom prst="ellipse">
            <a:avLst/>
          </a:prstGeom>
          <a:solidFill>
            <a:srgbClr val="5D3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20640"/>
            <a:ext cx="102412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232D37"/>
                </a:solidFill>
              </a:defRPr>
            </a:pPr>
            <a:r>
              <a:t>Large language models in digital forensics: capabilities, challenges and future directions. Forensic Science International: Digital Investigation, 56 (2026).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18288"/>
          </a:xfrm>
          <a:prstGeom prst="rect">
            <a:avLst/>
          </a:prstGeom>
          <a:solidFill>
            <a:srgbClr val="D7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684264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</a:defRPr>
            </a:pPr>
            <a:r>
              <a:t>AI-Powered Digital Evidence Management and Analysis System   | 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916</Words>
  <Application>Microsoft Office PowerPoint</Application>
  <PresentationFormat>Widescreen</PresentationFormat>
  <Paragraphs>101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BOMBAY HIGH COURT</cp:lastModifiedBy>
  <cp:revision>1</cp:revision>
  <dcterms:created xsi:type="dcterms:W3CDTF">2013-01-27T09:14:16Z</dcterms:created>
  <dcterms:modified xsi:type="dcterms:W3CDTF">2026-08-17T09:51:42Z</dcterms:modified>
  <cp:category/>
</cp:coreProperties>
</file>