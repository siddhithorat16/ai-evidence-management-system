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9" d="100"/>
          <a:sy n="59" d="100"/>
        </p:scale>
        <p:origin x="940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D4FC3-5BB6-471B-979F-0D737E9A211A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C6BE3-0DDB-4334-93A8-1A62365D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12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8FAFC"/>
                </a:solidFill>
                <a:latin typeface="Aptos Display"/>
              </a:rPr>
              <a:t>PROOFCHAIN</a:t>
            </a:r>
            <a:r>
              <a:rPr sz="2400">
                <a:solidFill>
                  <a:srgbClr val="9BB9DC"/>
                </a:solidFill>
                <a:latin typeface="Aptos"/>
              </a:rPr>
              <a:t>  |  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 Display"/>
              </a:rPr>
              <a:t>AI-Powered Digital Evidence Management
and Analysis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ECDDE"/>
                </a:solidFill>
                <a:latin typeface="Aptos"/>
              </a:rPr>
              <a:t>Project Goal • Time &amp; Budget • Requirements • Risk • 25%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00600"/>
            <a:ext cx="2148840" cy="502920"/>
          </a:xfrm>
          <a:prstGeom prst="roundRect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FINAL YEAR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234440"/>
            <a:ext cx="2651760" cy="914400"/>
          </a:xfrm>
          <a:prstGeom prst="roundRect">
            <a:avLst/>
          </a:prstGeom>
          <a:solidFill>
            <a:srgbClr val="2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Snehal Supekar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9372600" y="2423160"/>
            <a:ext cx="1737360" cy="91440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Divya Salunke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955279" y="3611880"/>
            <a:ext cx="2926080" cy="914400"/>
          </a:xfrm>
          <a:prstGeom prst="roundRect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Siddhi Thorat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507992" y="4613148"/>
            <a:ext cx="3423424" cy="685800"/>
          </a:xfrm>
          <a:prstGeom prst="roundRect">
            <a:avLst/>
          </a:prstGeom>
          <a:solidFill>
            <a:srgbClr val="24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Guide Name:</a:t>
            </a:r>
          </a:p>
          <a:p>
            <a:pPr algn="ctr"/>
            <a:r>
              <a:rPr lang="en-US" dirty="0"/>
              <a:t>Mrs. P. P. Shevatekar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324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FBECF"/>
                </a:solidFill>
                <a:latin typeface="Aptos"/>
              </a:rPr>
              <a:t>ProofChain • Project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FBEC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82B"/>
                </a:solidFill>
                <a:latin typeface="Aptos Display"/>
              </a:rPr>
              <a:t>1. 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37385"/>
                </a:solidFill>
                <a:latin typeface="Aptos"/>
              </a:rPr>
              <a:t>What ProofChain is designed to achieve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132588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378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A182B"/>
                </a:solidFill>
                <a:latin typeface="Aptos Display"/>
              </a:rPr>
              <a:t>Build a secure, traceable and AI-assisted platform for collecting, preserving,
analyzing and reporting digital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71800"/>
            <a:ext cx="20116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99032" y="3246120"/>
            <a:ext cx="585216" cy="585216"/>
          </a:xfrm>
          <a:prstGeom prst="ellipse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36192" y="336499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621" y="3977639"/>
            <a:ext cx="15400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0A182B"/>
                </a:solidFill>
                <a:latin typeface="Aptos"/>
              </a:rPr>
              <a:t>Secure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34840"/>
            <a:ext cx="20116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rgbClr val="637385"/>
                </a:solidFill>
                <a:latin typeface="Aptos"/>
              </a:rPr>
              <a:t>Authorized upload, storage and access using role-based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2971800"/>
            <a:ext cx="20116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21024" y="3246120"/>
            <a:ext cx="585216" cy="585216"/>
          </a:xfrm>
          <a:prstGeom prst="ellipse">
            <a:avLst/>
          </a:prstGeom>
          <a:solidFill>
            <a:srgbClr val="24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58184" y="336499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713" y="3977639"/>
            <a:ext cx="8618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0A182B"/>
                </a:solidFill>
                <a:latin typeface="Aptos"/>
              </a:rPr>
              <a:t>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4434840"/>
            <a:ext cx="17282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rgbClr val="637385"/>
                </a:solidFill>
                <a:latin typeface="Aptos"/>
              </a:rPr>
              <a:t>Generate and verify SHA-256 hashes to detect evidence modification.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9784" y="2971800"/>
            <a:ext cx="20116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43016" y="3246120"/>
            <a:ext cx="585216" cy="585216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0176" y="336499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2361" y="3977639"/>
            <a:ext cx="15865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0A182B"/>
                </a:solidFill>
                <a:latin typeface="Aptos"/>
              </a:rPr>
              <a:t>Chain of Custody</a:t>
            </a:r>
          </a:p>
        </p:txBody>
      </p:sp>
      <p:sp>
        <p:nvSpPr>
          <p:cNvPr id="20" name="TextBox 19"/>
          <p:cNvSpPr txBox="1"/>
          <p:nvPr/>
        </p:nvSpPr>
        <p:spPr>
          <a:xfrm flipH="1">
            <a:off x="5157774" y="4405191"/>
            <a:ext cx="20116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rgbClr val="637385"/>
                </a:solidFill>
                <a:latin typeface="Aptos"/>
              </a:rPr>
              <a:t>Maintain a timestamped record of every important evidence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6" y="2971800"/>
            <a:ext cx="20116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65008" y="3246120"/>
            <a:ext cx="585216" cy="585216"/>
          </a:xfrm>
          <a:prstGeom prst="ellipse">
            <a:avLst/>
          </a:prstGeom>
          <a:solidFill>
            <a:srgbClr val="F29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02168" y="336499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9022" y="3977639"/>
            <a:ext cx="14371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0A182B"/>
                </a:solidFill>
                <a:latin typeface="Aptos"/>
              </a:rPr>
              <a:t>AI Investigation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6906" y="4410471"/>
            <a:ext cx="1824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rgbClr val="637385"/>
                </a:solidFill>
                <a:latin typeface="Aptos"/>
              </a:rPr>
              <a:t>Detect suspicious patterns, anomalies and relationships across evidence.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73768" y="2971800"/>
            <a:ext cx="20116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287000" y="3246120"/>
            <a:ext cx="585216" cy="585216"/>
          </a:xfrm>
          <a:prstGeom prst="ellipse">
            <a:avLst/>
          </a:prstGeom>
          <a:solidFill>
            <a:srgbClr val="2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0" y="336499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1152" y="3977639"/>
            <a:ext cx="15969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0A182B"/>
                </a:solidFill>
                <a:latin typeface="Aptos"/>
              </a:rPr>
              <a:t>Decision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4434840"/>
            <a:ext cx="1737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rgbClr val="637385"/>
                </a:solidFill>
                <a:latin typeface="Aptos"/>
              </a:rPr>
              <a:t>Provide explainable risk scores, findings, timelines and reports.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37385"/>
                </a:solidFill>
                <a:latin typeface="Aptos"/>
              </a:rPr>
              <a:t>ProofChain • Project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73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82B"/>
                </a:solidFill>
                <a:latin typeface="Aptos Display"/>
              </a:rPr>
              <a:t>2. Time, Cost &amp; Budget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90372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99031"/>
            <a:ext cx="110959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b="1" dirty="0">
                <a:solidFill>
                  <a:srgbClr val="0A182B"/>
                </a:solidFill>
                <a:latin typeface="Aptos"/>
              </a:rPr>
              <a:t>Initial Plan : </a:t>
            </a:r>
            <a:endParaRPr sz="1300" b="1" dirty="0">
              <a:solidFill>
                <a:srgbClr val="0A182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914400" y="1783080"/>
            <a:ext cx="237744" cy="237744"/>
          </a:xfrm>
          <a:prstGeom prst="ellipse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" y="2002536"/>
            <a:ext cx="27432" cy="25603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7647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82B"/>
                </a:solidFill>
                <a:latin typeface="Aptos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7647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43242"/>
                </a:solidFill>
                <a:latin typeface="Aptos"/>
              </a:rPr>
              <a:t>Planning &amp; design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212848"/>
            <a:ext cx="237744" cy="237744"/>
          </a:xfrm>
          <a:prstGeom prst="ellipse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19556" y="2432304"/>
            <a:ext cx="27432" cy="25603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21945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82B"/>
                </a:solidFill>
                <a:latin typeface="Aptos"/>
              </a:rPr>
              <a:t>W2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945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43242"/>
                </a:solidFill>
                <a:latin typeface="Aptos"/>
              </a:rPr>
              <a:t>Authentication + RBAC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642615"/>
            <a:ext cx="237744" cy="237744"/>
          </a:xfrm>
          <a:prstGeom prst="ellipse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19556" y="2862072"/>
            <a:ext cx="27432" cy="25603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2624327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82B"/>
                </a:solidFill>
                <a:latin typeface="Aptos"/>
              </a:rPr>
              <a:t>W3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624327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43242"/>
                </a:solidFill>
                <a:latin typeface="Aptos"/>
              </a:rPr>
              <a:t>Case management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072384"/>
            <a:ext cx="237744" cy="237744"/>
          </a:xfrm>
          <a:prstGeom prst="ellipse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9556" y="3291839"/>
            <a:ext cx="27432" cy="25603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305409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82B"/>
                </a:solidFill>
                <a:latin typeface="Aptos"/>
              </a:rPr>
              <a:t>W4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0540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43242"/>
                </a:solidFill>
                <a:latin typeface="Aptos"/>
              </a:rPr>
              <a:t>Evidence upload + SHA-256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502152"/>
            <a:ext cx="237744" cy="237744"/>
          </a:xfrm>
          <a:prstGeom prst="ellipse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9556" y="3721608"/>
            <a:ext cx="27432" cy="25603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25880" y="348386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82B"/>
                </a:solidFill>
                <a:latin typeface="Aptos"/>
              </a:rPr>
              <a:t>W5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483864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43242"/>
                </a:solidFill>
                <a:latin typeface="Aptos"/>
              </a:rPr>
              <a:t>Chain of custody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3931920"/>
            <a:ext cx="237744" cy="237744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9556" y="4151376"/>
            <a:ext cx="27432" cy="25603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25880" y="39136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82B"/>
                </a:solidFill>
                <a:latin typeface="Aptos"/>
              </a:rPr>
              <a:t>W6–7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391363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43242"/>
                </a:solidFill>
                <a:latin typeface="Aptos"/>
              </a:rPr>
              <a:t>AI analysis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4361688"/>
            <a:ext cx="237744" cy="237744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19556" y="4581144"/>
            <a:ext cx="27432" cy="25603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5880" y="43434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82B"/>
                </a:solidFill>
                <a:latin typeface="Aptos"/>
              </a:rPr>
              <a:t>W8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343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43242"/>
                </a:solidFill>
                <a:latin typeface="Aptos"/>
              </a:rPr>
              <a:t>Dashboard + correlation</a:t>
            </a:r>
          </a:p>
        </p:txBody>
      </p:sp>
      <p:sp>
        <p:nvSpPr>
          <p:cNvPr id="34" name="Oval 33"/>
          <p:cNvSpPr/>
          <p:nvPr/>
        </p:nvSpPr>
        <p:spPr>
          <a:xfrm>
            <a:off x="914400" y="4791456"/>
            <a:ext cx="237744" cy="237744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19556" y="5010912"/>
            <a:ext cx="27432" cy="25603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5880" y="4773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82B"/>
                </a:solidFill>
                <a:latin typeface="Aptos"/>
              </a:rPr>
              <a:t>W9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77316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43242"/>
                </a:solidFill>
                <a:latin typeface="Aptos"/>
              </a:rPr>
              <a:t>PDF reports</a:t>
            </a:r>
          </a:p>
        </p:txBody>
      </p:sp>
      <p:sp>
        <p:nvSpPr>
          <p:cNvPr id="38" name="Oval 37"/>
          <p:cNvSpPr/>
          <p:nvPr/>
        </p:nvSpPr>
        <p:spPr>
          <a:xfrm>
            <a:off x="914400" y="5221224"/>
            <a:ext cx="237744" cy="237744"/>
          </a:xfrm>
          <a:prstGeom prst="ellipse">
            <a:avLst/>
          </a:prstGeom>
          <a:solidFill>
            <a:srgbClr val="24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25880" y="520293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82B"/>
                </a:solidFill>
                <a:latin typeface="Aptos"/>
              </a:rPr>
              <a:t>W10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20293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43242"/>
                </a:solidFill>
                <a:latin typeface="Aptos"/>
              </a:rPr>
              <a:t>Testing + documentation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20" y="1280160"/>
            <a:ext cx="373075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01000" y="1399031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Estimated Project Cost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171907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7385"/>
                </a:solidFill>
                <a:latin typeface="Aptos"/>
              </a:rPr>
              <a:t>Software &amp; tools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171907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4A675"/>
                </a:solidFill>
                <a:latin typeface="Aptos"/>
              </a:rPr>
              <a:t>₹0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2084831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7385"/>
                </a:solidFill>
                <a:latin typeface="Aptos"/>
              </a:rPr>
              <a:t>Dataset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2084831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4A675"/>
                </a:solidFill>
                <a:latin typeface="Aptos"/>
              </a:rPr>
              <a:t>₹0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2450591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7385"/>
                </a:solidFill>
                <a:latin typeface="Aptos"/>
              </a:rPr>
              <a:t>Cloud/hosting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2450591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375E8"/>
                </a:solidFill>
                <a:latin typeface="Aptos"/>
              </a:rPr>
              <a:t>₹0*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281635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7385"/>
                </a:solidFill>
                <a:latin typeface="Aptos"/>
              </a:rPr>
              <a:t>Total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28163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A182B"/>
                </a:solidFill>
                <a:latin typeface="Aptos"/>
              </a:rPr>
              <a:t>₹0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18120" y="3566160"/>
            <a:ext cx="3730752" cy="224028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01000" y="3685032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Budget 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65008" y="3977639"/>
            <a:ext cx="3246120" cy="1272143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00">
                <a:solidFill>
                  <a:srgbClr val="243242"/>
                </a:solidFill>
                <a:latin typeface="Aptos"/>
              </a:defRPr>
            </a:pPr>
            <a:r>
              <a:rPr dirty="0"/>
              <a:t>Use open-source software and local execution.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00">
                <a:solidFill>
                  <a:srgbClr val="243242"/>
                </a:solidFill>
                <a:latin typeface="Aptos"/>
              </a:defRPr>
            </a:pPr>
            <a:r>
              <a:rPr dirty="0"/>
              <a:t>Use NIST-style simulated evidence / self-created test data.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00">
                <a:solidFill>
                  <a:srgbClr val="243242"/>
                </a:solidFill>
                <a:latin typeface="Aptos"/>
              </a:defRPr>
            </a:pPr>
            <a:r>
              <a:rPr dirty="0"/>
              <a:t>Avoid paid AI APIs in the MVP.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00">
                <a:solidFill>
                  <a:srgbClr val="243242"/>
                </a:solidFill>
                <a:latin typeface="Aptos"/>
              </a:defRPr>
            </a:pPr>
            <a:r>
              <a:rPr dirty="0"/>
              <a:t>Deploy locally for academic demonstration.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00">
                <a:solidFill>
                  <a:srgbClr val="243242"/>
                </a:solidFill>
                <a:latin typeface="Aptos"/>
              </a:defRPr>
            </a:pPr>
            <a:r>
              <a:rPr dirty="0"/>
              <a:t>Optional hosting can be added later if required.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792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37385"/>
                </a:solidFill>
                <a:latin typeface="Aptos"/>
              </a:rPr>
              <a:t>ProofChain • Project Review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73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82B"/>
                </a:solidFill>
                <a:latin typeface="Aptos Display"/>
              </a:rPr>
              <a:t>3. Software &amp; Hardware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37385"/>
                </a:solidFill>
                <a:latin typeface="Aptos"/>
              </a:rPr>
              <a:t>All core components can run on a student development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4924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99031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Software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1755648"/>
            <a:ext cx="1234440" cy="283464"/>
          </a:xfrm>
          <a:prstGeom prst="roundRect">
            <a:avLst/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375E8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46504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43242"/>
                </a:solidFill>
                <a:latin typeface="Aptos"/>
              </a:rPr>
              <a:t>React.js,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203704"/>
            <a:ext cx="1234440" cy="283464"/>
          </a:xfrm>
          <a:prstGeom prst="roundRect">
            <a:avLst/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375E8"/>
                </a:solidFill>
                <a:latin typeface="Aptos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2178" y="2194560"/>
            <a:ext cx="15568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243242"/>
                </a:solidFill>
                <a:latin typeface="Aptos"/>
              </a:rPr>
              <a:t>Python, </a:t>
            </a:r>
            <a:r>
              <a:rPr sz="1000" dirty="0" err="1">
                <a:solidFill>
                  <a:srgbClr val="243242"/>
                </a:solidFill>
                <a:latin typeface="Aptos"/>
              </a:rPr>
              <a:t>FastAPI</a:t>
            </a:r>
            <a:r>
              <a:rPr lang="en-US" sz="1000" dirty="0">
                <a:solidFill>
                  <a:srgbClr val="243242"/>
                </a:solidFill>
                <a:latin typeface="Aptos"/>
              </a:rPr>
              <a:t> , NodeJS</a:t>
            </a:r>
            <a:endParaRPr sz="1000" dirty="0">
              <a:solidFill>
                <a:srgbClr val="243242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6112" y="2651760"/>
            <a:ext cx="1234440" cy="283464"/>
          </a:xfrm>
          <a:prstGeom prst="roundRect">
            <a:avLst/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375E8"/>
                </a:solidFill>
                <a:latin typeface="Aptos"/>
              </a:rP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42616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43242"/>
                </a:solidFill>
                <a:latin typeface="Aptos"/>
              </a:rPr>
              <a:t>MongoDB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3099815"/>
            <a:ext cx="1234440" cy="283464"/>
          </a:xfrm>
          <a:prstGeom prst="roundRect">
            <a:avLst/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375E8"/>
                </a:solidFill>
                <a:latin typeface="Aptos"/>
              </a:rPr>
              <a:t>AI /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9067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243242"/>
                </a:solidFill>
                <a:latin typeface="Aptos"/>
              </a:rPr>
              <a:t>scikit-learn, </a:t>
            </a:r>
            <a:r>
              <a:rPr sz="1000" dirty="0" err="1">
                <a:solidFill>
                  <a:srgbClr val="243242"/>
                </a:solidFill>
                <a:latin typeface="Aptos"/>
              </a:rPr>
              <a:t>XGBoost</a:t>
            </a:r>
            <a:r>
              <a:rPr sz="1000" dirty="0">
                <a:solidFill>
                  <a:srgbClr val="243242"/>
                </a:solidFill>
                <a:latin typeface="Aptos"/>
              </a:rPr>
              <a:t>, OpenCV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3547872"/>
            <a:ext cx="1234440" cy="283464"/>
          </a:xfrm>
          <a:prstGeom prst="roundRect">
            <a:avLst/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375E8"/>
                </a:solidFill>
                <a:latin typeface="Aptos"/>
              </a:rPr>
              <a:t>OCR / NLP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53872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243242"/>
                </a:solidFill>
                <a:latin typeface="Aptos"/>
              </a:rPr>
              <a:t>Tesseract or </a:t>
            </a:r>
            <a:r>
              <a:rPr sz="1000" dirty="0" err="1">
                <a:solidFill>
                  <a:srgbClr val="243242"/>
                </a:solidFill>
                <a:latin typeface="Aptos"/>
              </a:rPr>
              <a:t>EasyOCR</a:t>
            </a:r>
            <a:r>
              <a:rPr sz="1000" dirty="0">
                <a:solidFill>
                  <a:srgbClr val="243242"/>
                </a:solidFill>
                <a:latin typeface="Aptos"/>
              </a:rPr>
              <a:t>, </a:t>
            </a:r>
            <a:r>
              <a:rPr sz="1000" dirty="0" err="1">
                <a:solidFill>
                  <a:srgbClr val="243242"/>
                </a:solidFill>
                <a:latin typeface="Aptos"/>
              </a:rPr>
              <a:t>spaCy</a:t>
            </a:r>
            <a:r>
              <a:rPr sz="1000" dirty="0">
                <a:solidFill>
                  <a:srgbClr val="243242"/>
                </a:solidFill>
                <a:latin typeface="Aptos"/>
              </a:rPr>
              <a:t> / NLTK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3995928"/>
            <a:ext cx="1234440" cy="283464"/>
          </a:xfrm>
          <a:prstGeom prst="roundRect">
            <a:avLst/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375E8"/>
                </a:solidFill>
                <a:latin typeface="Aptos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986784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43242"/>
                </a:solidFill>
                <a:latin typeface="Aptos"/>
              </a:rPr>
              <a:t>JWT, bcrypt/passlib, SHA-256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4443983"/>
            <a:ext cx="1234440" cy="283464"/>
          </a:xfrm>
          <a:prstGeom prst="roundRect">
            <a:avLst/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375E8"/>
                </a:solidFill>
                <a:latin typeface="Aptos"/>
              </a:rPr>
              <a:t>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43484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43242"/>
                </a:solidFill>
                <a:latin typeface="Aptos"/>
              </a:rPr>
              <a:t>ReportLab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4892040"/>
            <a:ext cx="1234440" cy="283464"/>
          </a:xfrm>
          <a:prstGeom prst="roundRect">
            <a:avLst/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375E8"/>
                </a:solidFill>
                <a:latin typeface="Aptos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882896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43242"/>
                </a:solidFill>
                <a:latin typeface="Aptos"/>
              </a:rPr>
              <a:t>VS Code, Git/GitHub, Postman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5340096"/>
            <a:ext cx="1234440" cy="283464"/>
          </a:xfrm>
          <a:prstGeom prst="roundRect">
            <a:avLst/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375E8"/>
                </a:solidFill>
                <a:latin typeface="Aptos"/>
              </a:rPr>
              <a:t>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330952"/>
            <a:ext cx="7232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243242"/>
                </a:solidFill>
                <a:latin typeface="Aptos"/>
              </a:rPr>
              <a:t>Windows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280160"/>
            <a:ext cx="5285232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399031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Recommended 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175564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A182B"/>
                </a:solidFill>
                <a:latin typeface="Aptos"/>
              </a:rPr>
              <a:t>Processor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175564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Intel Core i5 / Ryzen 5 or better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21031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A182B"/>
                </a:solidFill>
                <a:latin typeface="Aptos"/>
              </a:rPr>
              <a:t>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103120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8 GB minimum • 16 GB recommended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2450591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A182B"/>
                </a:solidFill>
                <a:latin typeface="Aptos"/>
              </a:rPr>
              <a:t>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450591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256 GB SSD minimum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2798064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A182B"/>
                </a:solidFill>
                <a:latin typeface="Aptos"/>
              </a:rPr>
              <a:t>GPU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798064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Not mandatory for MVP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314553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A182B"/>
                </a:solidFill>
                <a:latin typeface="Aptos"/>
              </a:rPr>
              <a:t>Network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145536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Internet for package setup / updates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03320"/>
            <a:ext cx="5285232" cy="237744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3822191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Why This Is Feasible at ₹0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4114800"/>
            <a:ext cx="4709160" cy="1463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43242"/>
                </a:solidFill>
                <a:latin typeface="Aptos"/>
              </a:defRPr>
            </a:pPr>
            <a:r>
              <a:t>React, FastAPI, MongoDB Community and Python libraries are open-source.</a:t>
            </a:r>
          </a:p>
          <a:p>
            <a:pPr>
              <a:spcAft>
                <a:spcPts val="500"/>
              </a:spcAft>
              <a:defRPr sz="1050">
                <a:solidFill>
                  <a:srgbClr val="243242"/>
                </a:solidFill>
                <a:latin typeface="Aptos"/>
              </a:defRPr>
            </a:pPr>
            <a:r>
              <a:t>OCR, hashing, computer vision and classical ML can run locally.</a:t>
            </a:r>
          </a:p>
          <a:p>
            <a:pPr>
              <a:spcAft>
                <a:spcPts val="500"/>
              </a:spcAft>
              <a:defRPr sz="1050">
                <a:solidFill>
                  <a:srgbClr val="243242"/>
                </a:solidFill>
                <a:latin typeface="Aptos"/>
              </a:defRPr>
            </a:pPr>
            <a:r>
              <a:t>No paid API is required for the core AI Investigator workflow.</a:t>
            </a:r>
          </a:p>
          <a:p>
            <a:pPr>
              <a:spcAft>
                <a:spcPts val="500"/>
              </a:spcAft>
              <a:defRPr sz="1050">
                <a:solidFill>
                  <a:srgbClr val="243242"/>
                </a:solidFill>
                <a:latin typeface="Aptos"/>
              </a:defRPr>
            </a:pPr>
            <a:r>
              <a:t>A local machine is sufficient for the academic prototype.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37385"/>
                </a:solidFill>
                <a:latin typeface="Aptos"/>
              </a:rPr>
              <a:t>ProofChain • Project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73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82B"/>
                </a:solidFill>
                <a:latin typeface="Aptos Display"/>
              </a:rPr>
              <a:t>4. Risk Identification &amp;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37385"/>
                </a:solidFill>
                <a:latin typeface="Aptos"/>
              </a:rPr>
              <a:t>Prioritize risks by impact on evidence integrity, security and project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728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37385"/>
                </a:solidFill>
                <a:latin typeface="Aptos"/>
              </a:rPr>
              <a:t>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72768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37385"/>
                </a:solidFill>
                <a:latin typeface="Aptos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57276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37385"/>
                </a:solidFill>
                <a:latin typeface="Aptos"/>
              </a:rPr>
              <a:t>Likelihood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5727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37385"/>
                </a:solidFill>
                <a:latin typeface="Aptos"/>
              </a:rPr>
              <a:t>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7276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37385"/>
                </a:solidFill>
                <a:latin typeface="Aptos"/>
              </a:rPr>
              <a:t>Mitigation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11095"/>
            <a:ext cx="10561320" cy="438912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Unauthorized evidence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9659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659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 b="1">
                <a:solidFill>
                  <a:srgbClr val="DC4C4C"/>
                </a:solidFill>
                <a:latin typeface="Apto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JWT + RBAC + protected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59736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Evidence modification /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59736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459736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459736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 b="1">
                <a:solidFill>
                  <a:srgbClr val="DC4C4C"/>
                </a:solidFill>
                <a:latin typeface="Apto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59736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SHA-256 + backups + immutable audit logs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898648"/>
            <a:ext cx="10561320" cy="438912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2953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AI false positives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53512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295351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95351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 b="1">
                <a:solidFill>
                  <a:srgbClr val="DC4C4C"/>
                </a:solidFill>
                <a:latin typeface="Aptos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95351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Explainable rules + confidence + human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44728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Large/unsupported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447288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44728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4472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 b="1">
                <a:solidFill>
                  <a:srgbClr val="F29934"/>
                </a:solidFill>
                <a:latin typeface="Aptos"/>
              </a:rPr>
              <a:t>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44728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File validation + size/type limits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3886200"/>
            <a:ext cx="10561320" cy="438912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3941064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AI model 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941064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394106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94106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 b="1">
                <a:solidFill>
                  <a:srgbClr val="F29934"/>
                </a:solidFill>
                <a:latin typeface="Aptos"/>
              </a:rPr>
              <a:t>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94106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Use benchmark/test datasets and clear 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4348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Schedule overrun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4348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44348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4348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 b="1">
                <a:solidFill>
                  <a:srgbClr val="F29934"/>
                </a:solidFill>
                <a:latin typeface="Aptos"/>
              </a:rPr>
              <a:t>MED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43484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Deliver MVP first; advanced features later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4873752"/>
            <a:ext cx="10561320" cy="438912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4928616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Hardware resource limits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928616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4928616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4928616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 b="1">
                <a:solidFill>
                  <a:srgbClr val="F29934"/>
                </a:solidFill>
                <a:latin typeface="Aptos"/>
              </a:rP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928616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243242"/>
                </a:solidFill>
                <a:latin typeface="Aptos"/>
              </a:rPr>
              <a:t>Prefer lightweight models and local processing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87044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37385"/>
                </a:solidFill>
                <a:latin typeface="Aptos"/>
              </a:rPr>
              <a:t>Priority logic: HIGH = immediate control • MED = monitor and mitigate • LOW = monitor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37385"/>
                </a:solidFill>
                <a:latin typeface="Aptos"/>
              </a:rPr>
              <a:t>ProofChain • Project 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73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82B"/>
                </a:solidFill>
                <a:latin typeface="Aptos Display"/>
              </a:rPr>
              <a:t>5.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37385"/>
                </a:solidFill>
                <a:latin typeface="Aptos"/>
              </a:rPr>
              <a:t>From authorized evidence submission to AI-assisted findings and reporting</a:t>
            </a:r>
          </a:p>
        </p:txBody>
      </p:sp>
      <p:sp>
        <p:nvSpPr>
          <p:cNvPr id="4" name="Oval 3"/>
          <p:cNvSpPr/>
          <p:nvPr/>
        </p:nvSpPr>
        <p:spPr>
          <a:xfrm>
            <a:off x="1078992" y="1874519"/>
            <a:ext cx="658368" cy="658368"/>
          </a:xfrm>
          <a:prstGeom prst="ellipse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43584" y="202996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182B"/>
                </a:solidFill>
                <a:latin typeface="Aptos"/>
              </a:rPr>
              <a:t>Login &amp; RBAC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5648" y="2185416"/>
            <a:ext cx="347472" cy="36576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496312" y="1874519"/>
            <a:ext cx="658368" cy="658368"/>
          </a:xfrm>
          <a:prstGeom prst="ellipse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60903" y="202996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39" y="269748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182B"/>
                </a:solidFill>
                <a:latin typeface="Aptos"/>
              </a:rPr>
              <a:t>Create 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2185416"/>
            <a:ext cx="347472" cy="36576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913632" y="1874519"/>
            <a:ext cx="658368" cy="658368"/>
          </a:xfrm>
          <a:prstGeom prst="ellipse">
            <a:avLst/>
          </a:prstGeom>
          <a:solidFill>
            <a:srgbClr val="2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78224" y="202996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9748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182B"/>
                </a:solidFill>
                <a:latin typeface="Aptos"/>
              </a:rPr>
              <a:t>Upload 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0288" y="2185416"/>
            <a:ext cx="347472" cy="36576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330952" y="1874519"/>
            <a:ext cx="658368" cy="658368"/>
          </a:xfrm>
          <a:prstGeom prst="ellipse">
            <a:avLst/>
          </a:prstGeom>
          <a:solidFill>
            <a:srgbClr val="24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95544" y="202996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69748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182B"/>
                </a:solidFill>
                <a:latin typeface="Aptos"/>
              </a:rPr>
              <a:t>SHA-256 Hash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7608" y="2185416"/>
            <a:ext cx="347472" cy="36576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48272" y="1874519"/>
            <a:ext cx="658368" cy="65836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12864" y="202996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9748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182B"/>
                </a:solidFill>
                <a:latin typeface="Aptos"/>
              </a:rPr>
              <a:t>Chain of Custody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8" y="2185416"/>
            <a:ext cx="347472" cy="36576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65592" y="1874519"/>
            <a:ext cx="658368" cy="658368"/>
          </a:xfrm>
          <a:prstGeom prst="ellipse">
            <a:avLst/>
          </a:prstGeom>
          <a:solidFill>
            <a:srgbClr val="F29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0183" y="202996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269748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182B"/>
                </a:solidFill>
                <a:latin typeface="Aptos"/>
              </a:rPr>
              <a:t>AI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42248" y="2185416"/>
            <a:ext cx="347472" cy="36576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582912" y="1874519"/>
            <a:ext cx="658368" cy="658368"/>
          </a:xfrm>
          <a:prstGeom prst="ellipse">
            <a:avLst/>
          </a:prstGeom>
          <a:solidFill>
            <a:srgbClr val="DC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47504" y="202996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69748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182B"/>
                </a:solidFill>
                <a:latin typeface="Aptos"/>
              </a:rPr>
              <a:t>Human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59568" y="2185416"/>
            <a:ext cx="347472" cy="36576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000232" y="1874519"/>
            <a:ext cx="658368" cy="658368"/>
          </a:xfrm>
          <a:prstGeom prst="ellipse">
            <a:avLst/>
          </a:prstGeom>
          <a:solidFill>
            <a:srgbClr val="0A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164824" y="202996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269748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182B"/>
                </a:solidFill>
                <a:latin typeface="Aptos"/>
              </a:rPr>
              <a:t>PDF Report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3657600"/>
            <a:ext cx="3337560" cy="160020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37764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Security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069080"/>
            <a:ext cx="283464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JWT authentication</a:t>
            </a:r>
          </a:p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Role-based access control</a:t>
            </a:r>
          </a:p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Secure file validation</a:t>
            </a:r>
          </a:p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Audit logging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34840" y="3657600"/>
            <a:ext cx="3337560" cy="160020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17720" y="37764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AI Investigator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069080"/>
            <a:ext cx="283464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OCR / text extraction</a:t>
            </a:r>
          </a:p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Pattern &amp; anomaly detection</a:t>
            </a:r>
          </a:p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Risk scoring</a:t>
            </a:r>
          </a:p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Evidence correlation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3657600"/>
            <a:ext cx="3337560" cy="160020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319" y="37764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069080"/>
            <a:ext cx="283464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Findings dashboard</a:t>
            </a:r>
          </a:p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Investigation timeline</a:t>
            </a:r>
          </a:p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Integrity status</a:t>
            </a:r>
          </a:p>
          <a:p>
            <a:pPr>
              <a:spcAft>
                <a:spcPts val="500"/>
              </a:spcAft>
              <a:defRPr sz="1000">
                <a:solidFill>
                  <a:srgbClr val="243242"/>
                </a:solidFill>
                <a:latin typeface="Aptos"/>
              </a:defRPr>
            </a:pPr>
            <a:r>
              <a:t>PDF investigation report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37385"/>
                </a:solidFill>
                <a:latin typeface="Aptos"/>
              </a:rPr>
              <a:t>ProofChain • Project 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73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82B"/>
                </a:solidFill>
                <a:latin typeface="Aptos Display"/>
              </a:rPr>
              <a:t>6. 25% 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37385"/>
                </a:solidFill>
                <a:latin typeface="Aptos"/>
              </a:rPr>
              <a:t>Current prototype demonstrates the foundation of the ProofChain workflow</a:t>
            </a:r>
          </a:p>
        </p:txBody>
      </p:sp>
      <p:pic>
        <p:nvPicPr>
          <p:cNvPr id="4" name="Picture 3" descr="a_wide_dark_themed_ui_dashboard_screenshot_futu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315200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325880"/>
            <a:ext cx="3364992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66759" y="144475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Implemented at ~25%</a:t>
            </a:r>
          </a:p>
        </p:txBody>
      </p:sp>
      <p:sp>
        <p:nvSpPr>
          <p:cNvPr id="7" name="Oval 6"/>
          <p:cNvSpPr/>
          <p:nvPr/>
        </p:nvSpPr>
        <p:spPr>
          <a:xfrm>
            <a:off x="8412480" y="1810512"/>
            <a:ext cx="274320" cy="274320"/>
          </a:xfrm>
          <a:prstGeom prst="ellipse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23960" y="1792224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Project UI /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6768" y="179222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dirty="0">
                <a:solidFill>
                  <a:srgbClr val="2375E8"/>
                </a:solidFill>
                <a:latin typeface="Aptos"/>
              </a:rPr>
              <a:t>DONE</a:t>
            </a:r>
          </a:p>
        </p:txBody>
      </p:sp>
      <p:sp>
        <p:nvSpPr>
          <p:cNvPr id="10" name="Oval 9"/>
          <p:cNvSpPr/>
          <p:nvPr/>
        </p:nvSpPr>
        <p:spPr>
          <a:xfrm>
            <a:off x="8412480" y="2295144"/>
            <a:ext cx="274320" cy="274320"/>
          </a:xfrm>
          <a:prstGeom prst="ellipse">
            <a:avLst/>
          </a:prstGeom>
          <a:solidFill>
            <a:srgbClr val="24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2276856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Authentication +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762" y="2276856"/>
            <a:ext cx="4299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IN" sz="800" b="1" dirty="0">
                <a:solidFill>
                  <a:srgbClr val="F29934"/>
                </a:solidFill>
                <a:latin typeface="Aptos"/>
              </a:rPr>
              <a:t>NEXT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2779776"/>
            <a:ext cx="274320" cy="274320"/>
          </a:xfrm>
          <a:prstGeom prst="ellipse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2761488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Case creation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762" y="2761488"/>
            <a:ext cx="4299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IN" sz="800" b="1" dirty="0">
                <a:solidFill>
                  <a:srgbClr val="F29934"/>
                </a:solidFill>
                <a:latin typeface="Aptos"/>
              </a:rPr>
              <a:t>NEXT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0" y="3264408"/>
            <a:ext cx="274320" cy="274320"/>
          </a:xfrm>
          <a:prstGeom prst="ellipse">
            <a:avLst/>
          </a:prstGeom>
          <a:solidFill>
            <a:srgbClr val="24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60" y="324612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Evidence upload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762" y="3246120"/>
            <a:ext cx="4299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IN" sz="800" b="1" dirty="0">
                <a:solidFill>
                  <a:srgbClr val="F29934"/>
                </a:solidFill>
                <a:latin typeface="Aptos"/>
              </a:rPr>
              <a:t>NEXT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3749039"/>
            <a:ext cx="274320" cy="27432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3960" y="3730752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SHA-256 hashing concept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762" y="3730752"/>
            <a:ext cx="4299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IN" sz="800" b="1" dirty="0">
                <a:solidFill>
                  <a:srgbClr val="F29934"/>
                </a:solidFill>
                <a:latin typeface="Aptos"/>
              </a:rPr>
              <a:t>NEXT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0" y="4233672"/>
            <a:ext cx="274320" cy="274320"/>
          </a:xfrm>
          <a:prstGeom prst="ellipse">
            <a:avLst/>
          </a:prstGeom>
          <a:solidFill>
            <a:srgbClr val="F29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23960" y="4215384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AI analysis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6768" y="421538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dirty="0">
                <a:solidFill>
                  <a:srgbClr val="F29934"/>
                </a:solidFill>
                <a:latin typeface="Aptos"/>
              </a:rPr>
              <a:t>NEXT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0" y="4718304"/>
            <a:ext cx="274320" cy="274320"/>
          </a:xfrm>
          <a:prstGeom prst="ellipse">
            <a:avLst/>
          </a:prstGeom>
          <a:solidFill>
            <a:srgbClr val="F29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23960" y="4700016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43242"/>
                </a:solidFill>
                <a:latin typeface="Aptos"/>
              </a:rPr>
              <a:t>Correlation +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470001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29934"/>
                </a:solidFill>
                <a:latin typeface="Aptos"/>
              </a:rPr>
              <a:t>NEXT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5074920"/>
            <a:ext cx="2743200" cy="201168"/>
          </a:xfrm>
          <a:prstGeom prst="round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58200" y="5074920"/>
            <a:ext cx="685800" cy="201168"/>
          </a:xfrm>
          <a:prstGeom prst="roundRect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200" y="53949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182B"/>
                </a:solidFill>
                <a:latin typeface="Aptos"/>
              </a:rPr>
              <a:t>25% prototype foundation complete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37385"/>
                </a:solidFill>
                <a:latin typeface="Aptos"/>
              </a:rPr>
              <a:t>ProofChain • Project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73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82B"/>
                </a:solidFill>
                <a:latin typeface="Aptos Display"/>
              </a:rPr>
              <a:t>7. Planned AI Investigator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37385"/>
                </a:solidFill>
                <a:latin typeface="Aptos"/>
              </a:rPr>
              <a:t>The next stage turns evidence into explainable, investigator-facing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23317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64008" cy="1051560"/>
          </a:xfrm>
          <a:prstGeom prst="rect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26463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82B"/>
                </a:solidFill>
                <a:latin typeface="Aptos Display"/>
              </a:rPr>
              <a:t>148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7385"/>
                </a:solidFill>
                <a:latin typeface="Aptos"/>
              </a:rPr>
              <a:t>Total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280160"/>
            <a:ext cx="23317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54680" y="1280160"/>
            <a:ext cx="64008" cy="105156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5848" y="1426463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82B"/>
                </a:solidFill>
                <a:latin typeface="Aptos Display"/>
              </a:rPr>
              <a:t>126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94767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7385"/>
                </a:solidFill>
                <a:latin typeface="Aptos"/>
              </a:rPr>
              <a:t>Analyzed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280160"/>
            <a:ext cx="23317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23560" y="1280160"/>
            <a:ext cx="64008" cy="1051560"/>
          </a:xfrm>
          <a:prstGeom prst="rect">
            <a:avLst/>
          </a:prstGeom>
          <a:solidFill>
            <a:srgbClr val="DC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24728" y="1426463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82B"/>
                </a:solidFill>
                <a:latin typeface="Aptos Display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194767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7385"/>
                </a:solidFill>
                <a:latin typeface="Aptos"/>
              </a:rPr>
              <a:t>High-risk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80160"/>
            <a:ext cx="23317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280160"/>
            <a:ext cx="64008" cy="1051560"/>
          </a:xfrm>
          <a:prstGeom prst="rect">
            <a:avLst/>
          </a:prstGeom>
          <a:solidFill>
            <a:srgbClr val="24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426463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82B"/>
                </a:solidFill>
                <a:latin typeface="Aptos Display"/>
              </a:rPr>
              <a:t>139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94767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7385"/>
                </a:solidFill>
                <a:latin typeface="Aptos"/>
              </a:rPr>
              <a:t>Integrity 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606040"/>
            <a:ext cx="324612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272491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AI Risk Distribution</a:t>
            </a:r>
          </a:p>
        </p:txBody>
      </p:sp>
      <p:sp>
        <p:nvSpPr>
          <p:cNvPr id="22" name="Oval 21"/>
          <p:cNvSpPr/>
          <p:nvPr/>
        </p:nvSpPr>
        <p:spPr>
          <a:xfrm>
            <a:off x="1261872" y="3017520"/>
            <a:ext cx="2103120" cy="2103120"/>
          </a:xfrm>
          <a:prstGeom prst="ellipse">
            <a:avLst/>
          </a:prstGeom>
          <a:solidFill>
            <a:srgbClr val="F1F6FC"/>
          </a:solidFill>
          <a:ln w="2032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627632" y="3383280"/>
            <a:ext cx="1371600" cy="13716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83080" y="3703320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C4C4C"/>
                </a:solidFill>
                <a:latin typeface="Aptos"/>
              </a:rPr>
              <a:t>17
HIGH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3063240"/>
            <a:ext cx="109728" cy="109728"/>
          </a:xfrm>
          <a:prstGeom prst="ellipse">
            <a:avLst/>
          </a:prstGeom>
          <a:solidFill>
            <a:srgbClr val="DC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07792" y="300837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43242"/>
                </a:solidFill>
                <a:latin typeface="Aptos"/>
              </a:rPr>
              <a:t>High  17</a:t>
            </a:r>
          </a:p>
        </p:txBody>
      </p:sp>
      <p:sp>
        <p:nvSpPr>
          <p:cNvPr id="27" name="Oval 26"/>
          <p:cNvSpPr/>
          <p:nvPr/>
        </p:nvSpPr>
        <p:spPr>
          <a:xfrm>
            <a:off x="2743200" y="3502152"/>
            <a:ext cx="109728" cy="109728"/>
          </a:xfrm>
          <a:prstGeom prst="ellipse">
            <a:avLst/>
          </a:prstGeom>
          <a:solidFill>
            <a:srgbClr val="F29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07792" y="34472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43242"/>
                </a:solidFill>
                <a:latin typeface="Aptos"/>
              </a:rPr>
              <a:t>Medium  34</a:t>
            </a:r>
          </a:p>
        </p:txBody>
      </p:sp>
      <p:sp>
        <p:nvSpPr>
          <p:cNvPr id="29" name="Oval 28"/>
          <p:cNvSpPr/>
          <p:nvPr/>
        </p:nvSpPr>
        <p:spPr>
          <a:xfrm>
            <a:off x="2743200" y="3941064"/>
            <a:ext cx="109728" cy="109728"/>
          </a:xfrm>
          <a:prstGeom prst="ellipse">
            <a:avLst/>
          </a:prstGeom>
          <a:solidFill>
            <a:srgbClr val="24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07792" y="3886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43242"/>
                </a:solidFill>
                <a:latin typeface="Aptos"/>
              </a:rPr>
              <a:t>Low  75</a:t>
            </a:r>
          </a:p>
        </p:txBody>
      </p:sp>
      <p:sp>
        <p:nvSpPr>
          <p:cNvPr id="31" name="Oval 30"/>
          <p:cNvSpPr/>
          <p:nvPr/>
        </p:nvSpPr>
        <p:spPr>
          <a:xfrm>
            <a:off x="2743200" y="4379976"/>
            <a:ext cx="109728" cy="109728"/>
          </a:xfrm>
          <a:prstGeom prst="ellipse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07792" y="432511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43242"/>
                </a:solidFill>
                <a:latin typeface="Aptos"/>
              </a:rPr>
              <a:t>Informational  22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2606040"/>
            <a:ext cx="370332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43400" y="272491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AI Finding Categories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307238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243242"/>
                </a:solidFill>
                <a:latin typeface="Aptos"/>
              </a:rPr>
              <a:t>Suspicious URLs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3108960"/>
            <a:ext cx="1737360" cy="164592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0" y="3108960"/>
            <a:ext cx="1588443" cy="164592"/>
          </a:xfrm>
          <a:prstGeom prst="rect">
            <a:avLst/>
          </a:prstGeom>
          <a:solidFill>
            <a:srgbClr val="DC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24927" y="3054096"/>
            <a:ext cx="256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A182B"/>
                </a:solidFill>
                <a:latin typeface="Aptos"/>
              </a:rPr>
              <a:t>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351129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243242"/>
                </a:solidFill>
                <a:latin typeface="Aptos"/>
              </a:rPr>
              <a:t>Login anomalies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3547872"/>
            <a:ext cx="1737360" cy="164592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669280" y="3547872"/>
            <a:ext cx="1290610" cy="164592"/>
          </a:xfrm>
          <a:prstGeom prst="rect">
            <a:avLst/>
          </a:prstGeom>
          <a:solidFill>
            <a:srgbClr val="F29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24927" y="3493008"/>
            <a:ext cx="256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A182B"/>
                </a:solidFill>
                <a:latin typeface="Aptos"/>
              </a:rPr>
              <a:t>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8" y="395020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243242"/>
                </a:solidFill>
                <a:latin typeface="Aptos"/>
              </a:rPr>
              <a:t>Metadata anomalies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3986783"/>
            <a:ext cx="1737360" cy="164592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669280" y="3986783"/>
            <a:ext cx="943138" cy="164592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24927" y="3931920"/>
            <a:ext cx="256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A182B"/>
                </a:solidFill>
                <a:latin typeface="Aptos"/>
              </a:rPr>
              <a:t>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7408" y="43891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243242"/>
                </a:solidFill>
                <a:latin typeface="Aptos"/>
              </a:rPr>
              <a:t>Unusual IP activity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4425696"/>
            <a:ext cx="1737360" cy="164592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669280" y="4425696"/>
            <a:ext cx="744582" cy="164592"/>
          </a:xfrm>
          <a:prstGeom prst="rect">
            <a:avLst/>
          </a:prstGeom>
          <a:solidFill>
            <a:srgbClr val="23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24927" y="4370832"/>
            <a:ext cx="256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A182B"/>
                </a:solidFill>
                <a:latin typeface="Aptos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7408" y="482803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243242"/>
                </a:solidFill>
                <a:latin typeface="Aptos"/>
              </a:rPr>
              <a:t>Credential requests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4864607"/>
            <a:ext cx="1737360" cy="164592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669280" y="4864607"/>
            <a:ext cx="446749" cy="164592"/>
          </a:xfrm>
          <a:prstGeom prst="rect">
            <a:avLst/>
          </a:prstGeom>
          <a:solidFill>
            <a:srgbClr val="2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24927" y="4809744"/>
            <a:ext cx="2560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A182B"/>
                </a:solidFill>
                <a:latin typeface="Aptos"/>
              </a:rPr>
              <a:t>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2440" y="2606040"/>
            <a:ext cx="342900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9" y="27249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82B"/>
                </a:solidFill>
                <a:latin typeface="Aptos"/>
              </a:rPr>
              <a:t>Explainable Risk Score</a:t>
            </a:r>
          </a:p>
        </p:txBody>
      </p:sp>
      <p:sp>
        <p:nvSpPr>
          <p:cNvPr id="57" name="Oval 56"/>
          <p:cNvSpPr/>
          <p:nvPr/>
        </p:nvSpPr>
        <p:spPr>
          <a:xfrm>
            <a:off x="8412480" y="3154680"/>
            <a:ext cx="1417320" cy="1417320"/>
          </a:xfrm>
          <a:prstGeom prst="ellipse">
            <a:avLst/>
          </a:prstGeom>
          <a:solidFill>
            <a:srgbClr val="F1F6FC"/>
          </a:solidFill>
          <a:ln w="76200">
            <a:solidFill>
              <a:srgbClr val="DC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13648" y="3502152"/>
            <a:ext cx="1005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A182B"/>
                </a:solidFill>
                <a:latin typeface="Aptos Display"/>
              </a:rPr>
              <a:t>82/100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3063240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>
                <a:solidFill>
                  <a:srgbClr val="243242"/>
                </a:solidFill>
                <a:latin typeface="Aptos"/>
              </a:rPr>
              <a:t>Suspicious URL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0" y="3063240"/>
            <a:ext cx="292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DC4C4C"/>
                </a:solidFill>
                <a:latin typeface="Aptos"/>
              </a:rPr>
              <a:t>+25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12680" y="34564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>
                <a:solidFill>
                  <a:srgbClr val="243242"/>
                </a:solidFill>
                <a:latin typeface="Aptos"/>
              </a:rPr>
              <a:t>Credential request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18520" y="3456432"/>
            <a:ext cx="292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DC4C4C"/>
                </a:solidFill>
                <a:latin typeface="Aptos"/>
              </a:rPr>
              <a:t>+20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3849624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>
                <a:solidFill>
                  <a:srgbClr val="243242"/>
                </a:solidFill>
                <a:latin typeface="Aptos"/>
              </a:rPr>
              <a:t>Urgency language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18520" y="3849624"/>
            <a:ext cx="292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DC4C4C"/>
                </a:solidFill>
                <a:latin typeface="Aptos"/>
              </a:rPr>
              <a:t>+15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12680" y="4242816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>
                <a:solidFill>
                  <a:srgbClr val="243242"/>
                </a:solidFill>
                <a:latin typeface="Aptos"/>
              </a:rPr>
              <a:t>Unknown domain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8520" y="4242816"/>
            <a:ext cx="292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DC4C4C"/>
                </a:solidFill>
                <a:latin typeface="Aptos"/>
              </a:rPr>
              <a:t>+12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12680" y="4636008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>
                <a:solidFill>
                  <a:srgbClr val="243242"/>
                </a:solidFill>
                <a:latin typeface="Aptos"/>
              </a:rPr>
              <a:t>Metadata anomaly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18520" y="4636008"/>
            <a:ext cx="292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DC4C4C"/>
                </a:solidFill>
                <a:latin typeface="Aptos"/>
              </a:rPr>
              <a:t>+10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66760" y="49834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i="1">
                <a:solidFill>
                  <a:srgbClr val="637385"/>
                </a:solidFill>
                <a:latin typeface="Aptos"/>
              </a:rPr>
              <a:t>AI assists the investigator; human review remains final.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A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1792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37385"/>
                </a:solidFill>
                <a:latin typeface="Aptos"/>
              </a:rPr>
              <a:t>ProofChain • Project Review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73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802</Words>
  <Application>Microsoft Office PowerPoint</Application>
  <PresentationFormat>Widescreen</PresentationFormat>
  <Paragraphs>249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BOMBAY HIGH COURT</dc:creator>
  <cp:keywords/>
  <dc:description>generated using python-pptx</dc:description>
  <cp:lastModifiedBy>BOMBAY HIGH COURT</cp:lastModifiedBy>
  <cp:revision>2</cp:revision>
  <dcterms:created xsi:type="dcterms:W3CDTF">2013-01-27T09:14:16Z</dcterms:created>
  <dcterms:modified xsi:type="dcterms:W3CDTF">2026-09-09T06:11:10Z</dcterms:modified>
  <cp:category/>
</cp:coreProperties>
</file>